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C7CCE-9158-45EA-A10D-D852D8D67ED7}" v="32" dt="2026-04-01T13:16:22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5464-4057-9608-D95C-2451261B9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0FF31-65E4-C588-00AE-AAE22C4E6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C242C-E575-6BCD-AC7D-494A630F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583F6-C09C-572C-CED1-63FBDE2F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775DF-2239-0E80-FEB8-C4036A06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8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57E9-4FC3-DAA2-CB03-61D5BF6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01AD9-5A18-6CF3-2604-0D9B6E252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C820D-278B-1EC8-12FC-666D49AC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B6E30-722B-EAB1-E178-CFF0853B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3DF70-082D-A863-915F-0D3C7FEE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75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789A-9D38-952E-D312-04E66DDCB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2F5E3-E343-F54A-BC48-80BC36ACA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08A06-74EA-3DEB-27C7-BFDEEE20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F0B26-E476-586C-A9B5-6F41545D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2FF9-0639-BAA9-E3DF-3DC45B18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74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C137-322C-2673-1329-352C8EF5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B095-02A8-C9ED-0D30-404DE2D9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6AC29-CCFF-BDB1-1018-6517B1FF3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D1ADC-29B7-FF67-4321-DB9999D6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A6A83-C906-7EA7-4493-BE9ACD3D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3F63-5B28-A150-48F6-C011220C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32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3548-14C9-0BAA-CBC2-604CE4AE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57DB9-1BBA-90B0-144C-72C1B824A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95128-6156-CD4C-1AED-09A880324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07284-32BA-668F-F2FC-4933EFCEB6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8D73E-5B33-BD37-5176-C3A934E14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0FCF1-908E-294F-DCD2-C4CF0A4C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83308-D0DC-526D-9479-82710A1B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C6FC0-EF6C-6E23-E109-80614983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39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C3AC-3367-64E0-65F4-79B18B9D6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B2331-5CC9-C049-355F-853D7C66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5A213-3581-26A7-ADDC-C1711450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53BF1-5BE2-A011-CBC0-CEE4840E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07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4385E-BDB1-EEFF-A135-333306B9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A25962-3A5E-14CE-DA7B-8F7F898F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2BC1-7619-0426-7602-7C97D7C6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46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4335-9CD8-A10F-3E65-446B2EFDC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DF513-7D98-3A22-C329-B02CA6144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32BBB-B8BB-AC14-35B5-66167B24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40444-1B29-3C53-C539-F978E1FED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7BAF7-1500-8280-014B-18BD6D44B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D28F6-A8D7-CE85-5505-0E2677DA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06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0FD6-7176-766F-251E-2D956993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645F05-2E55-17B5-7F52-A7F804F711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E1126-B500-3638-6CD0-96DB45F10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C6A95-D0E9-6DD6-7B44-64250EFC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DD3B0-E2D5-00FF-2DD9-D20890DA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9C4D3-8C0F-D652-F766-5A704F3A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08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82303-A8F0-D7E4-DE39-86C42F9A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B6E5B-6C3D-75BF-A18D-5128084EB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C9691-E924-64A9-1175-26F85DE52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4F171-85BA-EB88-F317-8BA9F169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359A7-7AEA-1204-9C92-2A5391FE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49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759793-A0E3-11A2-DA45-ED9424F24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83821-7B72-A57B-E873-EBBAF0A92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D964C-FF7A-96AF-58E7-4F50C3C7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D4257-8BDB-4110-C136-7EA7A5F2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DE450-23B1-6EB3-72F2-5D50940B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13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7C1CD-AC18-6B71-C07B-E4E6A3734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C1170-3FA6-21BE-BCD6-273E9C2AF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A7BE7-291D-0EC7-663F-96863EC3E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B36D4-2642-452A-9D37-93604F261302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97A77-E8C4-11F3-795F-F3BFCC88C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4E6D-8C49-012D-F592-05C086A0B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DC0C6-AF87-4502-922F-D0EDC339D0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47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693A70-23E0-C73D-AB9D-451E73B3E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413" y="3509963"/>
            <a:ext cx="2979173" cy="3008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1721B2-3DDB-4ECA-0F19-3185D2DE2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58" y="983689"/>
            <a:ext cx="8526243" cy="2557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7A3E69-5D20-6FD6-7A56-0669DA58DD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7128" y="888891"/>
            <a:ext cx="7505551" cy="126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D65555-453A-67CC-921F-F5BB037933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929" y="167642"/>
            <a:ext cx="2287163" cy="6264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8CCEF7-614A-E22E-2D00-6ECCAE31B0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C1346C-0A33-A356-3B85-3384C889B967}"/>
              </a:ext>
            </a:extLst>
          </p:cNvPr>
          <p:cNvSpPr txBox="1"/>
          <p:nvPr/>
        </p:nvSpPr>
        <p:spPr>
          <a:xfrm>
            <a:off x="608062" y="151049"/>
            <a:ext cx="60942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MongoDB</a:t>
            </a:r>
          </a:p>
        </p:txBody>
      </p:sp>
    </p:spTree>
    <p:extLst>
      <p:ext uri="{BB962C8B-B14F-4D97-AF65-F5344CB8AC3E}">
        <p14:creationId xmlns:p14="http://schemas.microsoft.com/office/powerpoint/2010/main" val="195291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CC96BC-3856-7C13-FAF4-13398DC152A6}"/>
              </a:ext>
            </a:extLst>
          </p:cNvPr>
          <p:cNvSpPr txBox="1"/>
          <p:nvPr/>
        </p:nvSpPr>
        <p:spPr>
          <a:xfrm>
            <a:off x="379269" y="1545254"/>
            <a:ext cx="56465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/>
              <a:t>What is MongoDB 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83198-DCB5-0402-8FEB-76F52C630538}"/>
              </a:ext>
            </a:extLst>
          </p:cNvPr>
          <p:cNvSpPr txBox="1"/>
          <p:nvPr/>
        </p:nvSpPr>
        <p:spPr>
          <a:xfrm>
            <a:off x="403081" y="2318634"/>
            <a:ext cx="113858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MongoDB is a </a:t>
            </a:r>
            <a:r>
              <a:rPr lang="en-US" b="1" dirty="0">
                <a:effectLst/>
              </a:rPr>
              <a:t>NoSQL database</a:t>
            </a:r>
            <a:r>
              <a:rPr lang="en-US" b="1" dirty="0"/>
              <a:t> that provides high performance, high availability, and easy scalability for modern web applications.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731793-0645-348E-25FC-7D2142C2D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001" y="2764908"/>
            <a:ext cx="6827721" cy="41148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0EAEBF-D911-F9BE-E508-02B2C2082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7128" y="888891"/>
            <a:ext cx="7505551" cy="126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CC1953-F82B-572E-06A7-687245B2B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93" y="0"/>
            <a:ext cx="2287163" cy="6264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51D628-E0BF-2B4C-5A28-AD1FB60443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5FEBD5B-6AEC-8F20-F78E-F80EBBC8622F}"/>
              </a:ext>
            </a:extLst>
          </p:cNvPr>
          <p:cNvSpPr txBox="1"/>
          <p:nvPr/>
        </p:nvSpPr>
        <p:spPr>
          <a:xfrm>
            <a:off x="765668" y="185695"/>
            <a:ext cx="60942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728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B90723-CEA4-9ECE-4774-EB2A8ED12FA1}"/>
              </a:ext>
            </a:extLst>
          </p:cNvPr>
          <p:cNvSpPr txBox="1"/>
          <p:nvPr/>
        </p:nvSpPr>
        <p:spPr>
          <a:xfrm>
            <a:off x="4507114" y="1003276"/>
            <a:ext cx="78659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SQL vs NoSQL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422CC-F2FF-FC10-9B89-ACA2BE404692}"/>
              </a:ext>
            </a:extLst>
          </p:cNvPr>
          <p:cNvSpPr txBox="1"/>
          <p:nvPr/>
        </p:nvSpPr>
        <p:spPr>
          <a:xfrm>
            <a:off x="1952987" y="2123086"/>
            <a:ext cx="42218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MySQL (SQL)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Structured, predefined schema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Tables with fixed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Rows represent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Joins between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ACID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Vertical scaling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541E2A-9675-5686-0E36-AC0BF23E4570}"/>
              </a:ext>
            </a:extLst>
          </p:cNvPr>
          <p:cNvSpPr txBox="1"/>
          <p:nvPr/>
        </p:nvSpPr>
        <p:spPr>
          <a:xfrm>
            <a:off x="7412073" y="2082480"/>
            <a:ext cx="422183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MongoDB (NoSQL)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Dynamic, flexible schema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collections with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Documents store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Embedded data structures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Eventual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Horizontal scaling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D82EB4-2AE1-D3B5-00E4-8350C595C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7128" y="888891"/>
            <a:ext cx="7505551" cy="1263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B648DA-0DD8-5A61-6235-0A50E4F22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7" y="0"/>
            <a:ext cx="2287163" cy="6264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0D5A6F-A9AA-DD60-EFC6-D5A3317E6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C286C00-E18E-D62C-B846-21821C39F618}"/>
              </a:ext>
            </a:extLst>
          </p:cNvPr>
          <p:cNvSpPr txBox="1"/>
          <p:nvPr/>
        </p:nvSpPr>
        <p:spPr>
          <a:xfrm>
            <a:off x="674767" y="242560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SQL vs NoSQL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438B34D-B6C3-00D2-812F-0280C62FCB86}"/>
              </a:ext>
            </a:extLst>
          </p:cNvPr>
          <p:cNvCxnSpPr>
            <a:cxnSpLocks/>
          </p:cNvCxnSpPr>
          <p:nvPr/>
        </p:nvCxnSpPr>
        <p:spPr>
          <a:xfrm>
            <a:off x="6400800" y="1907458"/>
            <a:ext cx="0" cy="3038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37B05C-6FB6-348E-859D-24B9D0D897D9}"/>
              </a:ext>
            </a:extLst>
          </p:cNvPr>
          <p:cNvCxnSpPr/>
          <p:nvPr/>
        </p:nvCxnSpPr>
        <p:spPr>
          <a:xfrm>
            <a:off x="1710812" y="1907458"/>
            <a:ext cx="9379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4BD7B1-5275-BE0D-88D9-63B40E033016}"/>
              </a:ext>
            </a:extLst>
          </p:cNvPr>
          <p:cNvCxnSpPr/>
          <p:nvPr/>
        </p:nvCxnSpPr>
        <p:spPr>
          <a:xfrm>
            <a:off x="1700981" y="1907458"/>
            <a:ext cx="0" cy="3038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EC2540-4CC3-162B-4EBC-0B9FB514DAF1}"/>
              </a:ext>
            </a:extLst>
          </p:cNvPr>
          <p:cNvCxnSpPr>
            <a:cxnSpLocks/>
          </p:cNvCxnSpPr>
          <p:nvPr/>
        </p:nvCxnSpPr>
        <p:spPr>
          <a:xfrm>
            <a:off x="1710812" y="4945626"/>
            <a:ext cx="93799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F572B9-2879-3789-4BCF-8A865B8053BE}"/>
              </a:ext>
            </a:extLst>
          </p:cNvPr>
          <p:cNvCxnSpPr>
            <a:cxnSpLocks/>
          </p:cNvCxnSpPr>
          <p:nvPr/>
        </p:nvCxnSpPr>
        <p:spPr>
          <a:xfrm>
            <a:off x="11090787" y="1907458"/>
            <a:ext cx="0" cy="3038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67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DD33C3-77D4-E4C9-9FBB-A2520679B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149" y="1307690"/>
            <a:ext cx="8424481" cy="4946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38EE3D-3728-BB9A-EF0E-34F4C3A7C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07966" y="786291"/>
            <a:ext cx="7505551" cy="1263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F129D-D93A-09DB-A5A1-31C365C06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7" y="0"/>
            <a:ext cx="2287163" cy="626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18BFF-81DA-F879-F77E-BFA6A32A23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FF5B25-7461-9FE6-22C7-854946AA22B2}"/>
              </a:ext>
            </a:extLst>
          </p:cNvPr>
          <p:cNvSpPr txBox="1"/>
          <p:nvPr/>
        </p:nvSpPr>
        <p:spPr>
          <a:xfrm>
            <a:off x="766917" y="13608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SQL vs NoSQL</a:t>
            </a:r>
          </a:p>
        </p:txBody>
      </p:sp>
    </p:spTree>
    <p:extLst>
      <p:ext uri="{BB962C8B-B14F-4D97-AF65-F5344CB8AC3E}">
        <p14:creationId xmlns:p14="http://schemas.microsoft.com/office/powerpoint/2010/main" val="290842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009113-9D22-94CD-54EC-187201B2686B}"/>
              </a:ext>
            </a:extLst>
          </p:cNvPr>
          <p:cNvSpPr txBox="1"/>
          <p:nvPr/>
        </p:nvSpPr>
        <p:spPr>
          <a:xfrm>
            <a:off x="480580" y="355661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MongoDB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34996-A15A-43E6-83C2-B39887B77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48151" y="1001992"/>
            <a:ext cx="7505551" cy="126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3D107-11D6-79D1-2625-062F230AC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186" y="1384028"/>
            <a:ext cx="7131627" cy="48568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2B6915-A146-3D2E-E0D4-9E4DA65D7EEB}"/>
              </a:ext>
            </a:extLst>
          </p:cNvPr>
          <p:cNvSpPr txBox="1"/>
          <p:nvPr/>
        </p:nvSpPr>
        <p:spPr>
          <a:xfrm>
            <a:off x="2067596" y="6367286"/>
            <a:ext cx="999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BSON</a:t>
            </a:r>
            <a:r>
              <a:rPr lang="en-US" dirty="0"/>
              <a:t> (Binary JSON) extends JSON to support additional data types like dates and binary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DE66AF-540C-649C-7B81-8E05CE8B5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7" y="0"/>
            <a:ext cx="2287163" cy="6264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02A9C1-624D-18E1-23FD-5D564128A7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63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EE163-0837-44BF-5381-154A93447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7128" y="888891"/>
            <a:ext cx="7505551" cy="126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563DA7-30D1-D92A-C84F-729D95F82B60}"/>
              </a:ext>
            </a:extLst>
          </p:cNvPr>
          <p:cNvSpPr txBox="1"/>
          <p:nvPr/>
        </p:nvSpPr>
        <p:spPr>
          <a:xfrm>
            <a:off x="556519" y="242560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Query Operations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119A8-5074-CFA0-9FFC-BCBCB216142C}"/>
              </a:ext>
            </a:extLst>
          </p:cNvPr>
          <p:cNvSpPr txBox="1"/>
          <p:nvPr/>
        </p:nvSpPr>
        <p:spPr>
          <a:xfrm>
            <a:off x="709631" y="1476953"/>
            <a:ext cx="60942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Comparison Operators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5B0FF-0676-8D7B-E649-C9C9495C4E77}"/>
              </a:ext>
            </a:extLst>
          </p:cNvPr>
          <p:cNvSpPr txBox="1"/>
          <p:nvPr/>
        </p:nvSpPr>
        <p:spPr>
          <a:xfrm>
            <a:off x="868657" y="2211639"/>
            <a:ext cx="609765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5"/>
                </a:solidFill>
              </a:rPr>
              <a:t>$</a:t>
            </a:r>
            <a:r>
              <a:rPr lang="en-US" sz="2000" b="1" dirty="0" err="1">
                <a:solidFill>
                  <a:schemeClr val="accent5"/>
                </a:solidFill>
              </a:rPr>
              <a:t>gt</a:t>
            </a:r>
            <a:r>
              <a:rPr lang="en-US" sz="2000" b="1" dirty="0">
                <a:solidFill>
                  <a:schemeClr val="accent5"/>
                </a:solidFill>
              </a:rPr>
              <a:t> - Greater Than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5"/>
                </a:solidFill>
              </a:rPr>
              <a:t>$</a:t>
            </a:r>
            <a:r>
              <a:rPr lang="en-US" sz="2000" b="1" dirty="0" err="1">
                <a:solidFill>
                  <a:schemeClr val="accent5"/>
                </a:solidFill>
              </a:rPr>
              <a:t>lt</a:t>
            </a:r>
            <a:r>
              <a:rPr lang="en-US" sz="2000" b="1" dirty="0">
                <a:solidFill>
                  <a:schemeClr val="accent5"/>
                </a:solidFill>
              </a:rPr>
              <a:t> - Less Than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5"/>
                </a:solidFill>
              </a:rPr>
              <a:t>$</a:t>
            </a:r>
            <a:r>
              <a:rPr lang="en-US" sz="2000" b="1" dirty="0" err="1">
                <a:solidFill>
                  <a:schemeClr val="accent5"/>
                </a:solidFill>
              </a:rPr>
              <a:t>gte</a:t>
            </a:r>
            <a:r>
              <a:rPr lang="en-US" sz="2000" b="1" dirty="0">
                <a:solidFill>
                  <a:schemeClr val="accent5"/>
                </a:solidFill>
              </a:rPr>
              <a:t> - Greater or Equal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5"/>
                </a:solidFill>
              </a:rPr>
              <a:t>$</a:t>
            </a:r>
            <a:r>
              <a:rPr lang="en-US" sz="2000" b="1" dirty="0" err="1">
                <a:solidFill>
                  <a:schemeClr val="accent5"/>
                </a:solidFill>
              </a:rPr>
              <a:t>lte</a:t>
            </a:r>
            <a:r>
              <a:rPr lang="en-US" sz="2000" b="1" dirty="0">
                <a:solidFill>
                  <a:schemeClr val="accent5"/>
                </a:solidFill>
              </a:rPr>
              <a:t> - Less or Equal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5"/>
                </a:solidFill>
              </a:rPr>
              <a:t>$ne - Not Equal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A2304-8466-5249-E87A-41E843680E18}"/>
              </a:ext>
            </a:extLst>
          </p:cNvPr>
          <p:cNvSpPr txBox="1"/>
          <p:nvPr/>
        </p:nvSpPr>
        <p:spPr>
          <a:xfrm>
            <a:off x="1868411" y="4214783"/>
            <a:ext cx="60942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 err="1">
                <a:latin typeface="Courier New" panose="02070309020205020404" pitchFamily="49" charset="0"/>
              </a:rPr>
              <a:t>db.users.find</a:t>
            </a:r>
            <a:r>
              <a:rPr lang="en-IN" sz="2000" b="1" dirty="0">
                <a:latin typeface="Courier New" panose="02070309020205020404" pitchFamily="49" charset="0"/>
              </a:rPr>
              <a:t>({</a:t>
            </a:r>
          </a:p>
          <a:p>
            <a:pPr>
              <a:buNone/>
            </a:pPr>
            <a:r>
              <a:rPr lang="en-IN" sz="2000" b="1" dirty="0">
                <a:latin typeface="Courier New" panose="02070309020205020404" pitchFamily="49" charset="0"/>
              </a:rPr>
              <a:t> $and: [</a:t>
            </a:r>
          </a:p>
          <a:p>
            <a:pPr>
              <a:buNone/>
            </a:pPr>
            <a:r>
              <a:rPr lang="en-IN" sz="2000" b="1" dirty="0">
                <a:latin typeface="Courier New" panose="02070309020205020404" pitchFamily="49" charset="0"/>
              </a:rPr>
              <a:t> { age: { $</a:t>
            </a:r>
            <a:r>
              <a:rPr lang="en-IN" sz="2000" b="1" dirty="0" err="1">
                <a:latin typeface="Courier New" panose="02070309020205020404" pitchFamily="49" charset="0"/>
              </a:rPr>
              <a:t>gte</a:t>
            </a:r>
            <a:r>
              <a:rPr lang="en-IN" sz="2000" b="1" dirty="0">
                <a:latin typeface="Courier New" panose="02070309020205020404" pitchFamily="49" charset="0"/>
              </a:rPr>
              <a:t>: 18 } }, </a:t>
            </a:r>
            <a:r>
              <a:rPr lang="en-I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(&lt;=)</a:t>
            </a:r>
          </a:p>
          <a:p>
            <a:pPr>
              <a:buNone/>
            </a:pPr>
            <a:r>
              <a:rPr lang="en-IN" sz="2000" b="1" dirty="0">
                <a:latin typeface="Courier New" panose="02070309020205020404" pitchFamily="49" charset="0"/>
              </a:rPr>
              <a:t> { status: "active" }</a:t>
            </a:r>
          </a:p>
          <a:p>
            <a:pPr>
              <a:buNone/>
            </a:pPr>
            <a:r>
              <a:rPr lang="en-IN" sz="2000" b="1" dirty="0">
                <a:latin typeface="Courier New" panose="02070309020205020404" pitchFamily="49" charset="0"/>
              </a:rPr>
              <a:t> ]</a:t>
            </a:r>
          </a:p>
          <a:p>
            <a:pPr>
              <a:buNone/>
            </a:pPr>
            <a:r>
              <a:rPr lang="en-IN" sz="2000" b="1" dirty="0">
                <a:latin typeface="Courier New" panose="02070309020205020404" pitchFamily="49" charset="0"/>
              </a:rPr>
              <a:t>})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0A3EA3-C767-9EEC-FDCE-C20E467ABA8C}"/>
              </a:ext>
            </a:extLst>
          </p:cNvPr>
          <p:cNvSpPr txBox="1"/>
          <p:nvPr/>
        </p:nvSpPr>
        <p:spPr>
          <a:xfrm>
            <a:off x="231197" y="4134552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ourier New" panose="02070309020205020404" pitchFamily="49" charset="0"/>
              </a:rPr>
              <a:t>EX:-</a:t>
            </a:r>
            <a:endParaRPr lang="en-IN" sz="32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9996F1-5A40-BECA-930B-9B41729AA17E}"/>
              </a:ext>
            </a:extLst>
          </p:cNvPr>
          <p:cNvSpPr/>
          <p:nvPr/>
        </p:nvSpPr>
        <p:spPr>
          <a:xfrm>
            <a:off x="1699591" y="4134552"/>
            <a:ext cx="4951196" cy="2235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CE16DC-57FA-72CA-9DB1-7E680EF9A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7" y="0"/>
            <a:ext cx="2287163" cy="6264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1F301B-1146-72C3-2AE6-084950502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2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2F62E8-50E8-0B96-AA33-2E374F0C3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7128" y="888891"/>
            <a:ext cx="7505551" cy="126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E1461F-A08F-2740-787F-7D65ED46167C}"/>
              </a:ext>
            </a:extLst>
          </p:cNvPr>
          <p:cNvSpPr txBox="1"/>
          <p:nvPr/>
        </p:nvSpPr>
        <p:spPr>
          <a:xfrm>
            <a:off x="666260" y="304116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CRUD Operations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EB705E1-7BB4-286C-1EFE-75C166159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47" y="1473666"/>
            <a:ext cx="5191850" cy="10288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85B310-9B6E-9560-8ADC-DD99C628A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456" y="1473666"/>
            <a:ext cx="4267796" cy="9431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C78895A-674B-A788-F87F-135845BD1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60" y="3269489"/>
            <a:ext cx="5325218" cy="10860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D9B7AC-7818-7330-A8D6-4894B8A60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456" y="3395604"/>
            <a:ext cx="4633329" cy="8353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EEB1DE-F271-4446-76E9-BE9563FE8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7" y="0"/>
            <a:ext cx="2287163" cy="6264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B7874C-F078-4E6A-C7BA-943A036312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672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BF4240-7A31-CB87-D218-70F3C78EF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7128" y="1117491"/>
            <a:ext cx="7505551" cy="126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0D654-7FD9-06B1-6197-004913AB9A5D}"/>
              </a:ext>
            </a:extLst>
          </p:cNvPr>
          <p:cNvSpPr txBox="1"/>
          <p:nvPr/>
        </p:nvSpPr>
        <p:spPr>
          <a:xfrm>
            <a:off x="457128" y="47799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Sorting, Pagination &amp; Aggregation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4BEEF8-9EA3-E01B-11EF-2203A0A52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7" y="0"/>
            <a:ext cx="2287163" cy="6264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6138C2-3102-5848-377A-16DBB0726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00AA19-0CBE-23D9-9FBF-057FBB0B4436}"/>
              </a:ext>
            </a:extLst>
          </p:cNvPr>
          <p:cNvSpPr txBox="1"/>
          <p:nvPr/>
        </p:nvSpPr>
        <p:spPr>
          <a:xfrm>
            <a:off x="532534" y="1405143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/>
              <a:t>sort()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B4E3A9-EAA9-9876-305C-80B89DCCA81F}"/>
              </a:ext>
            </a:extLst>
          </p:cNvPr>
          <p:cNvSpPr txBox="1"/>
          <p:nvPr/>
        </p:nvSpPr>
        <p:spPr>
          <a:xfrm>
            <a:off x="532533" y="2051474"/>
            <a:ext cx="8102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Sort results by one or more fields in ascending (1) or descending (-1) order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140208-A4C9-8D19-7C36-05C36A829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92661"/>
            <a:ext cx="638264" cy="8097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0FB243-0837-040E-21B5-2DC43D4C2C44}"/>
              </a:ext>
            </a:extLst>
          </p:cNvPr>
          <p:cNvSpPr txBox="1"/>
          <p:nvPr/>
        </p:nvSpPr>
        <p:spPr>
          <a:xfrm>
            <a:off x="532533" y="2456343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/>
              <a:t>limit()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65CEE8-8035-A564-EA9C-1159F17553AE}"/>
              </a:ext>
            </a:extLst>
          </p:cNvPr>
          <p:cNvSpPr txBox="1"/>
          <p:nvPr/>
        </p:nvSpPr>
        <p:spPr>
          <a:xfrm>
            <a:off x="532533" y="3150788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Limit the number of documents returned in the result set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1CA822-02C5-E7E3-AE6B-4289E7CB7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1" y="2392243"/>
            <a:ext cx="470092" cy="71297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AB365F3-08AD-EFE6-B0DE-B0AF4D2EBCF6}"/>
              </a:ext>
            </a:extLst>
          </p:cNvPr>
          <p:cNvSpPr txBox="1"/>
          <p:nvPr/>
        </p:nvSpPr>
        <p:spPr>
          <a:xfrm>
            <a:off x="532533" y="3517185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/>
              <a:t>skip()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CDF42-D6FE-1096-D718-8941BE158788}"/>
              </a:ext>
            </a:extLst>
          </p:cNvPr>
          <p:cNvSpPr txBox="1"/>
          <p:nvPr/>
        </p:nvSpPr>
        <p:spPr>
          <a:xfrm>
            <a:off x="532533" y="4075885"/>
            <a:ext cx="7884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Skip a specified number of documents for pagination implementation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E2BC1C9-F907-96A8-10FA-920268A54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86" y="3561927"/>
            <a:ext cx="470092" cy="35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7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1F33D2-775F-0453-FA1B-869E659497CE}"/>
              </a:ext>
            </a:extLst>
          </p:cNvPr>
          <p:cNvSpPr txBox="1"/>
          <p:nvPr/>
        </p:nvSpPr>
        <p:spPr>
          <a:xfrm>
            <a:off x="553314" y="1713729"/>
            <a:ext cx="956407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Count</a:t>
            </a:r>
          </a:p>
          <a:p>
            <a:pPr>
              <a:buNone/>
            </a:pPr>
            <a:r>
              <a:rPr lang="en-US" dirty="0"/>
              <a:t>Count documents in collection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sum</a:t>
            </a:r>
          </a:p>
          <a:p>
            <a:pPr>
              <a:buNone/>
            </a:pPr>
            <a:r>
              <a:rPr lang="en-US" dirty="0"/>
              <a:t>Calculate sum of numeric fields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avg</a:t>
            </a:r>
          </a:p>
          <a:p>
            <a:pPr>
              <a:buNone/>
            </a:pPr>
            <a:r>
              <a:rPr lang="en-US" dirty="0"/>
              <a:t>Calculate average values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group</a:t>
            </a:r>
          </a:p>
          <a:p>
            <a:pPr>
              <a:buNone/>
            </a:pPr>
            <a:r>
              <a:rPr lang="en-US" dirty="0"/>
              <a:t>Group documents by field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EFC50A-10D0-7F99-7992-E7C78C6F1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7128" y="1117491"/>
            <a:ext cx="7505551" cy="126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33F42C-3B42-CC18-8A3C-E5A14E92832E}"/>
              </a:ext>
            </a:extLst>
          </p:cNvPr>
          <p:cNvSpPr txBox="1"/>
          <p:nvPr/>
        </p:nvSpPr>
        <p:spPr>
          <a:xfrm>
            <a:off x="641804" y="3244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Aggregation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03DD3-1489-C561-04A9-FD3B43587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007" y="0"/>
            <a:ext cx="2287163" cy="626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1F10B5-A9CD-3A69-553F-F56FF30B8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1522"/>
            <a:ext cx="2074403" cy="7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D38FF0-E33D-F046-EE58-048933858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558"/>
            <a:ext cx="12029768" cy="6014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5F41F0-78CB-9E27-46E8-F3F4C3945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58" y="5973703"/>
            <a:ext cx="2074403" cy="7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5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3033</TotalTime>
  <Words>238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Kanak Soni</dc:creator>
  <cp:lastModifiedBy>Kanak Soni</cp:lastModifiedBy>
  <cp:revision>7</cp:revision>
  <dcterms:created xsi:type="dcterms:W3CDTF">2026-03-30T12:56:54Z</dcterms:created>
  <dcterms:modified xsi:type="dcterms:W3CDTF">2026-04-02T11:34:37Z</dcterms:modified>
</cp:coreProperties>
</file>